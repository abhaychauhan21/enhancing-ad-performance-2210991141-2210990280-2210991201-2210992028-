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XKEpl2qbUL388WV6W3fEwMF43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651684-0931-4658-9003-1D68A49BFA0C}">
  <a:tblStyle styleId="{22651684-0931-4658-9003-1D68A49BFA0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62000" y="84683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2000" y="132308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5300" y="1770757"/>
            <a:ext cx="11201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Copy Generation &amp; Sentiment Analysis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Transformer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324891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Abhay Chauhan · Aditya Singh Solanki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62000" y="377279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Dhruv Walia · Parth Goyal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62000" y="4296667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BE-CSE, Roll Numbers: 221</a:t>
            </a:r>
            <a:r>
              <a:rPr lang="en-US" sz="165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0991142, 2210991201, 2210990280, 2210992028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62000" y="4991992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 </a:t>
            </a:r>
            <a:r>
              <a:rPr b="1" lang="en-US" sz="16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Preeti Saini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62000" y="5515867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CO-OP Module-2March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62000" y="222885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addresses the growing demand for high-volume, high-quality creative assets in the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Marketing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industry.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066800" y="33813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43000" y="33813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ad platforms require constant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Creative Refresh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maintain ROI.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66800" y="4010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143000" y="401002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copywriting is a bottleneck that drives up Customer Acquisition Costs (CAC).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66800" y="46386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143000" y="4638675"/>
            <a:ext cx="4714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leverages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AI (GPT-2)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(DistilBERT)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automate this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IntroductionSlide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6334125" y="2386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Project Goals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334125" y="2805112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creative fatigue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automating the production of high-conversion ad copy with robust sentiment safeguards.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38925" y="36433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715125" y="364331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manual drafting with LLM pipelines.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638925" y="4271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715125" y="427196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Reduce cycle time by 40%.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638925" y="45862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715125" y="4586287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Safety: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100% brand-positive alignment via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SummarySlide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4655194"/>
            <a:ext cx="3429000" cy="158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511944"/>
            <a:ext cx="10668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863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9620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GPT-2 fine-tuned on 300k industry-standard headlines.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5058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5815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filtering candidates based on sentiment (&gt;0.85).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125301" y="5057775"/>
            <a:ext cx="3180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Deployment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8201025" y="5431780"/>
            <a:ext cx="302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sync of approved copy to live A/B test environments.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Architecture: End-to-End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ArchitectureSlide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762000" y="2543175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utilizes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Masked Self-Attention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contextual coherence.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7645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1066800" y="33813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1143000" y="33813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Span: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Maintaining brand tone across the entire ad body.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066800" y="4010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143000" y="401002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Nucleus sampling (p=0.9) balances diversity and sense.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66800" y="46386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1143000" y="4638675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Specialized on ad headlines to learn marketing persuasive patterns.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Generative Layer: GPT-2 Mechanism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GPT-2 LayerSlide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2440"/>
            <a:ext cx="10668000" cy="1654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762000" y="453256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Scaled Dot-Product 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the model to weigh the importance of different words in a marketing prompt to generate high-relevance outputs.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772965"/>
            <a:ext cx="9886950" cy="87376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Foundation: Attention Mechanism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MathematicsSlide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 txBox="1"/>
          <p:nvPr/>
        </p:nvSpPr>
        <p:spPr>
          <a:xfrm>
            <a:off x="6334125" y="2386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0.85 Sentiment Threshold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334125" y="2805112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candidate passes through DistilBERT for full-context emotion scoring.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9" name="Google Shape;1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1187" y="24479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6638925" y="36433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6715125" y="364331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 False-Positive Rate: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Eliminating negative brand alignment.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6638925" y="4271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715125" y="4271962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Hallucination Filtering: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Intercepts sarcasm and off-brand phrasing.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638925" y="49006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715125" y="490061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Prioritizes precision over recall for production stability.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Safeguarding Brand Voice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GateSlide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8"/>
          <p:cNvGraphicFramePr/>
          <p:nvPr/>
        </p:nvGraphicFramePr>
        <p:xfrm>
          <a:off x="7620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{22651684-0931-4658-9003-1D68A49BFA0C}</a:tableStyleId>
              </a:tblPr>
              <a:tblGrid>
                <a:gridCol w="2483800"/>
                <a:gridCol w="3829650"/>
                <a:gridCol w="4345025"/>
              </a:tblGrid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GPT-2 (Generation)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DistilBERT (Sentiment)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Set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300,000 Ad Headlines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500,000 Product Reviews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NVIDIA A100 GPU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 FP16 Training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 · LR 5e-5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 · LR 2e-5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Epochs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8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Environment &amp; Hyperparameters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ConfigurationSlide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05087"/>
            <a:ext cx="50958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762000" y="2857500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Adaptation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762000" y="3276600"/>
            <a:ext cx="5095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perplexity dropped significantly during training: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6534150" y="3014662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6534150" y="4614862"/>
            <a:ext cx="4695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retains 97% of BERT's performance with much higher speed.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066800" y="38004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1143000" y="380047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Zero-Shot: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45.2 Perplexity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066800" y="41148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1143000" y="4114800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4: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18.4 Perplexity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066800" y="44291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143000" y="442912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59% gain in language specialization.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838950" y="35004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6915150" y="3500437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DistilBERT Accuracy: 94.8%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6838950" y="38147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915150" y="3814762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BERT Accuracy: 95.3%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838950" y="41290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915150" y="4129087"/>
            <a:ext cx="4314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Baseline: 89.5%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Training Convergence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ISlide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71600"/>
            <a:ext cx="1066800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 txBox="1"/>
          <p:nvPr/>
        </p:nvSpPr>
        <p:spPr>
          <a:xfrm>
            <a:off x="1790253" y="4538662"/>
            <a:ext cx="963974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62.5% Latency Reduction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achieved. Sub-50ms latency makes this pipeline viable for high-throughput, real-time creative generation.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3" name="Google Shape;2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76737"/>
            <a:ext cx="742503" cy="742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Inference Speed at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IISlide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43175"/>
            <a:ext cx="50958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 txBox="1"/>
          <p:nvPr/>
        </p:nvSpPr>
        <p:spPr>
          <a:xfrm>
            <a:off x="762000" y="3148012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Accomplishments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6667500" y="2828925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667500" y="32480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RLHF Loops: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reinforcement learning based on live CTR.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6667500" y="4086225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en-US" sz="1650" u="none" cap="none" strike="noStrike">
                <a:solidFill>
                  <a:srgbClr val="E11D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Pairing AI headlines with visual generation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066800" y="35099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1143000" y="350996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 Cycle Reduction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creative production.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1066800" y="38242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1143000" y="3824287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Stabilized CAC</a:t>
            </a: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via rapid ad rotation.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066800" y="41386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1143000" y="4138612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negative-brand variants reached deployment.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Path Forward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ConclusionSlide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2773" y="285750"/>
            <a:ext cx="176822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495300" y="1519237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619750" y="2624137"/>
            <a:ext cx="95250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762000" y="2947987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Feedback?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762000" y="376713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762000" y="429101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762000" y="4814887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www.chitkara.edu.in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9" name="Google Shape;27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6023" y="48625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2"/>
          <p:cNvSpPr txBox="1"/>
          <p:nvPr/>
        </p:nvSpPr>
        <p:spPr>
          <a:xfrm>
            <a:off x="762000" y="6610350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CO-OP Project PresentationSlide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3"/>
          <p:cNvSpPr/>
          <p:nvPr/>
        </p:nvSpPr>
        <p:spPr>
          <a:xfrm>
            <a:off x="762000" y="139541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762000" y="216693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62000" y="2938462"/>
            <a:ext cx="10668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62000" y="388143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62000" y="465296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62000" y="21574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62000" y="21574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762000" y="29289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62000" y="29289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762000" y="38719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762000" y="38719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62000" y="46434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762000" y="46434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62000" y="54149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62000" y="54149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1" name="Google Shape;3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382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"/>
          <p:cNvSpPr txBox="1"/>
          <p:nvPr/>
        </p:nvSpPr>
        <p:spPr>
          <a:xfrm>
            <a:off x="1857375" y="1545431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https://upload.wikimedia.org/wikipedia/commons/a/a0/Chitkara_University%2C_Punjab_logo.png?utm_source=commons.wikimedia.org&amp;utm_campaign=index&amp;utm_content=original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1857375" y="1778793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commons.wikimedia.org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4" name="Google Shape;30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098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3"/>
          <p:cNvSpPr txBox="1"/>
          <p:nvPr/>
        </p:nvSpPr>
        <p:spPr>
          <a:xfrm>
            <a:off x="1857375" y="2316956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https://cdn.prod.website-files.com/614b3e8cafbd9789234c277e/692973c9b2b1e2b26bd4dc9a_AI%20marketing%20analytics%20dashboard%20platforms.webp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1857375" y="2550318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madgicx.com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7" name="Google Shape;30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67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3"/>
          <p:cNvSpPr txBox="1"/>
          <p:nvPr/>
        </p:nvSpPr>
        <p:spPr>
          <a:xfrm>
            <a:off x="1857375" y="3081337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https://static.vecteezy.com/system/resources/previews/035/780/958/non_2x/annoyed-businessman-stressed-with-multiple-hands-giving-papers-and-phones-bothered-male-employee-distressed-with-workload-overwork-illustration-vector.jpg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1857375" y="3500437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www.vecteezy.com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0" name="Google Shape;31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24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 txBox="1"/>
          <p:nvPr/>
        </p:nvSpPr>
        <p:spPr>
          <a:xfrm>
            <a:off x="1857375" y="4031456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https://content-management-files.canva.com/9f9bbfe7-7b1f-4ec6-95a7-cd59cac3d815/long-form_ArchitectureDiagram_section-2_asset-1_4x.png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1857375" y="4264818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www.canva.com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3" name="Google Shape;31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795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3"/>
          <p:cNvSpPr txBox="1"/>
          <p:nvPr/>
        </p:nvSpPr>
        <p:spPr>
          <a:xfrm>
            <a:off x="1857375" y="4802981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https://viso.ai/wp-content/uploads/2024/03/copy-attention.png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1857375" y="5036343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viso.ai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6" name="Google Shape;31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6530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/>
          <p:nvPr/>
        </p:nvSpPr>
        <p:spPr>
          <a:xfrm>
            <a:off x="1857375" y="5567362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https://static.vecteezy.com/system/resources/previews/073/109/414/non_2x/flat-design-protection-shield-icon-with-checkmark-security-and-verification-symbol-for-cyber-safety-and-guarantee-vector.jpg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1857375" y="5986462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www.vecteezy.com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38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 txBox="1"/>
          <p:nvPr/>
        </p:nvSpPr>
        <p:spPr>
          <a:xfrm>
            <a:off x="1857375" y="3645693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https://uxwing.com/wp-content/themes/uxwing/download/checkmark-cross/success-green-check-mark-icon.svg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1857375" y="3879056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uxwing.com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762000" y="47625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762000" y="971550"/>
            <a:ext cx="106680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
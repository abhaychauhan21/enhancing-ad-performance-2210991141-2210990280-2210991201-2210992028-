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hd/qheKyanzS25hlsLHfUp3xEL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EABB86-1E8E-44F7-B0F2-C4C7B5AC0293}">
  <a:tblStyle styleId="{98EABB86-1E8E-44F7-B0F2-C4C7B5AC029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42773" y="285750"/>
            <a:ext cx="1768226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762000" y="846832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 (22CS421)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62000" y="1323082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95300" y="1770757"/>
            <a:ext cx="112014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11D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Copy Generation &amp; Sentiment Analysis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600" u="none" cap="none" strike="noStrike">
                <a:solidFill>
                  <a:srgbClr val="E11D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Transformer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62000" y="3248917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Abhay Chauhan · Aditya Singh Solanki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762000" y="3772792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Dhruv Walia · Parth Goyal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62000" y="4296667"/>
            <a:ext cx="10668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BE-CSE, Roll Numbers: 221</a:t>
            </a:r>
            <a:r>
              <a:rPr lang="en-US" sz="165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0991142, 2210991201, 2210990280, 2210992028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62000" y="4991992"/>
            <a:ext cx="10668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By: </a:t>
            </a:r>
            <a:r>
              <a:rPr b="1" lang="en-US" sz="165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Preeti Saini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62000" y="5515867"/>
            <a:ext cx="10668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Chitkara University, Punjab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62000" y="661035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 CO-OP Module-2March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66925"/>
            <a:ext cx="50958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2773" y="285750"/>
            <a:ext cx="1768226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762000" y="2228850"/>
            <a:ext cx="50958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addresses the growing demand for high-volume, high-quality creative assets in the </a:t>
            </a: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Marketing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industry.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3" name="Google Shape;10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076450"/>
            <a:ext cx="50768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/>
          <p:nvPr/>
        </p:nvSpPr>
        <p:spPr>
          <a:xfrm>
            <a:off x="1066800" y="338137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143000" y="3381375"/>
            <a:ext cx="4714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ad platforms require constant </a:t>
            </a:r>
            <a:r>
              <a:rPr b="1" i="0" lang="en-US" sz="1650" u="none" cap="none" strike="noStrike">
                <a:solidFill>
                  <a:srgbClr val="E11D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Creative Refresh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maintain ROI.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066800" y="401002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143000" y="4010025"/>
            <a:ext cx="4714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copywriting is a bottleneck that drives up Customer Acquisition Costs (CAC).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066800" y="463867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143000" y="4638675"/>
            <a:ext cx="47148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solution leverages </a:t>
            </a: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Generative AI (GPT-2)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Analysis (DistilBERT)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automate this pipeline.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762000" y="47625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762000" y="971550"/>
            <a:ext cx="10668000" cy="190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762000" y="661035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IntroductionSlide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66925"/>
            <a:ext cx="50958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2773" y="285750"/>
            <a:ext cx="1768226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076450"/>
            <a:ext cx="50768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 txBox="1"/>
          <p:nvPr/>
        </p:nvSpPr>
        <p:spPr>
          <a:xfrm>
            <a:off x="6334125" y="2386012"/>
            <a:ext cx="535066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Project Goals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6334125" y="2805112"/>
            <a:ext cx="5095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reduce </a:t>
            </a:r>
            <a:r>
              <a:rPr b="1" i="0" lang="en-US" sz="1650" u="none" cap="none" strike="noStrike">
                <a:solidFill>
                  <a:srgbClr val="E11D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creative fatigue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automating the production of high-conversion ad copy with robust sentiment safeguards.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6638925" y="364331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6715125" y="3643312"/>
            <a:ext cx="4714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Automation: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Replace manual drafting with LLM pipelines.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6638925" y="427196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6715125" y="4271962"/>
            <a:ext cx="4714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Efficiency: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Reduce cycle time by 40%.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6638925" y="458628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6715125" y="4586287"/>
            <a:ext cx="4714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Brand Safety: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100% brand-positive alignment via filtering.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762000" y="47625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Executive Summary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762000" y="971550"/>
            <a:ext cx="10668000" cy="190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762000" y="661035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Executive SummarySlide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655194"/>
            <a:ext cx="3429000" cy="1586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4655194"/>
            <a:ext cx="3429000" cy="1586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0" y="4655194"/>
            <a:ext cx="3429000" cy="1586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2773" y="285750"/>
            <a:ext cx="1768226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1511944"/>
            <a:ext cx="10668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 txBox="1"/>
          <p:nvPr/>
        </p:nvSpPr>
        <p:spPr>
          <a:xfrm>
            <a:off x="886301" y="5057775"/>
            <a:ext cx="318039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11D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Generation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962025" y="5431780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GPT-2 fine-tuned on 300k industry-standard headlines.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4505801" y="5057775"/>
            <a:ext cx="318039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11D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Validation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4581525" y="5431780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DistilBERT filtering candidates based on sentiment (&gt;0.85).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8125301" y="5057775"/>
            <a:ext cx="318039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11D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Deployment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8201025" y="5431780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sync of approved copy to live A/B test environments.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762000" y="47625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Architecture: End-to-End Pipeline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762000" y="971550"/>
            <a:ext cx="10668000" cy="190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762000" y="661035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ArchitectureSlide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66925"/>
            <a:ext cx="50958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2773" y="285750"/>
            <a:ext cx="1768226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 txBox="1"/>
          <p:nvPr/>
        </p:nvSpPr>
        <p:spPr>
          <a:xfrm>
            <a:off x="762000" y="2543175"/>
            <a:ext cx="5095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utilizes </a:t>
            </a: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Masked Self-Attention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ensure contextual coherence.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9" name="Google Shape;15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076450"/>
            <a:ext cx="50768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"/>
          <p:cNvSpPr txBox="1"/>
          <p:nvPr/>
        </p:nvSpPr>
        <p:spPr>
          <a:xfrm>
            <a:off x="1066800" y="338137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1143000" y="3381375"/>
            <a:ext cx="4714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 Span: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Maintaining brand tone across the entire ad body.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1066800" y="401002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1143000" y="4010025"/>
            <a:ext cx="4714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Sampling: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Nucleus sampling (p=0.9) balances diversity and sense.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1066800" y="463867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1143000" y="4638675"/>
            <a:ext cx="4714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Fine-tuning: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Specialized on ad headlines to learn marketing persuasive patterns.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762000" y="47625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Generative Layer: GPT-2 Mechanism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762000" y="971550"/>
            <a:ext cx="10668000" cy="190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762000" y="661035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GPT-2 LayerSlide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82440"/>
            <a:ext cx="10668000" cy="16548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2773" y="285750"/>
            <a:ext cx="1768226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 txBox="1"/>
          <p:nvPr/>
        </p:nvSpPr>
        <p:spPr>
          <a:xfrm>
            <a:off x="762000" y="4532560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Scaled Dot-Product Attention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allows the model to weigh the importance of different words in a marketing prompt to generate high-relevance outputs.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7" name="Google Shape;17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52525" y="2772965"/>
            <a:ext cx="9886950" cy="87376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6"/>
          <p:cNvSpPr txBox="1"/>
          <p:nvPr/>
        </p:nvSpPr>
        <p:spPr>
          <a:xfrm>
            <a:off x="762000" y="47625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Mathematical Foundation: Attention Mechanism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762000" y="971550"/>
            <a:ext cx="10668000" cy="190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762000" y="661035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MathematicsSlide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42773" y="285750"/>
            <a:ext cx="1768226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7"/>
          <p:cNvSpPr txBox="1"/>
          <p:nvPr/>
        </p:nvSpPr>
        <p:spPr>
          <a:xfrm>
            <a:off x="6334125" y="2386012"/>
            <a:ext cx="535066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0.85 Sentiment Threshold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6334125" y="2805112"/>
            <a:ext cx="5095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candidate passes through DistilBERT for full-context emotion scoring.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9" name="Google Shape;18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81187" y="2447925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7"/>
          <p:cNvSpPr txBox="1"/>
          <p:nvPr/>
        </p:nvSpPr>
        <p:spPr>
          <a:xfrm>
            <a:off x="6638925" y="364331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 txBox="1"/>
          <p:nvPr/>
        </p:nvSpPr>
        <p:spPr>
          <a:xfrm>
            <a:off x="6715125" y="3643312"/>
            <a:ext cx="4714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E11D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0% False-Positive Rate: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Eliminating negative brand alignment.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6638925" y="427196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6715125" y="4271962"/>
            <a:ext cx="4714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Hallucination Filtering: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Intercepts sarcasm and off-brand phrasing.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6638925" y="490061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6715125" y="4900612"/>
            <a:ext cx="4714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Prioritizes precision over recall for production stability.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762000" y="47625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Safeguarding Brand Voice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762000" y="971550"/>
            <a:ext cx="10668000" cy="190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762000" y="661035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Safety GateSlide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42773" y="285750"/>
            <a:ext cx="1768226" cy="762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5" name="Google Shape;205;p8"/>
          <p:cNvGraphicFramePr/>
          <p:nvPr/>
        </p:nvGraphicFramePr>
        <p:xfrm>
          <a:off x="762000" y="25812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{98EABB86-1E8E-44F7-B0F2-C4C7B5AC0293}</a:tableStyleId>
              </a:tblPr>
              <a:tblGrid>
                <a:gridCol w="2483800"/>
                <a:gridCol w="3829650"/>
                <a:gridCol w="4345025"/>
              </a:tblGrid>
              <a:tr h="53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Specification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GPT-2 (Generation)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DistilBERT (Sentiment)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</a:tr>
              <a:tr h="53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755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 Set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300,000 Ad Headlines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500,000 Product Reviews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755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Hardware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NVIDIA A100 GPU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Cloud FP16 Training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3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755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Optimizer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AdamW · LR 5e-5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AdamW · LR 2e-5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755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Epochs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Epochs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Epochs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06" name="Google Shape;206;p8"/>
          <p:cNvSpPr txBox="1"/>
          <p:nvPr/>
        </p:nvSpPr>
        <p:spPr>
          <a:xfrm>
            <a:off x="762000" y="47625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Environment &amp; Hyperparameters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762000" y="971550"/>
            <a:ext cx="10668000" cy="190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 txBox="1"/>
          <p:nvPr/>
        </p:nvSpPr>
        <p:spPr>
          <a:xfrm>
            <a:off x="762000" y="661035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ConfigurationSlide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605087"/>
            <a:ext cx="5095875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2773" y="285750"/>
            <a:ext cx="1768226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9"/>
          <p:cNvSpPr txBox="1"/>
          <p:nvPr/>
        </p:nvSpPr>
        <p:spPr>
          <a:xfrm>
            <a:off x="762000" y="2857500"/>
            <a:ext cx="535066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Adaptation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9"/>
          <p:cNvSpPr txBox="1"/>
          <p:nvPr/>
        </p:nvSpPr>
        <p:spPr>
          <a:xfrm>
            <a:off x="762000" y="3276600"/>
            <a:ext cx="5095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 perplexity dropped significantly during training: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6534150" y="3014662"/>
            <a:ext cx="4695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Accuracy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9"/>
          <p:cNvSpPr txBox="1"/>
          <p:nvPr/>
        </p:nvSpPr>
        <p:spPr>
          <a:xfrm>
            <a:off x="6534150" y="4614862"/>
            <a:ext cx="46958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DistilBERT retains 97% of BERT's performance with much higher speed.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1066800" y="380047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1143000" y="3800475"/>
            <a:ext cx="4714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E11D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Zero-Shot: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45.2 Perplexity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"/>
          <p:cNvSpPr txBox="1"/>
          <p:nvPr/>
        </p:nvSpPr>
        <p:spPr>
          <a:xfrm>
            <a:off x="1066800" y="4114800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1143000" y="4114800"/>
            <a:ext cx="4714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Epoch 4: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18.4 Perplexity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1066800" y="442912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 txBox="1"/>
          <p:nvPr/>
        </p:nvSpPr>
        <p:spPr>
          <a:xfrm>
            <a:off x="1143000" y="4429125"/>
            <a:ext cx="4714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Improvement: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59% gain in language specialization.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6838950" y="350043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6915150" y="3500437"/>
            <a:ext cx="4314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DistilBERT Accuracy: 94.8%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6838950" y="381476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6915150" y="3814762"/>
            <a:ext cx="4314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BERT Accuracy: 95.3%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6838950" y="412908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 txBox="1"/>
          <p:nvPr/>
        </p:nvSpPr>
        <p:spPr>
          <a:xfrm>
            <a:off x="6915150" y="4129087"/>
            <a:ext cx="4314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SVM Baseline: 89.5%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762000" y="47625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 Training Convergence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762000" y="971550"/>
            <a:ext cx="10668000" cy="190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762000" y="661035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ISlide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71600"/>
            <a:ext cx="10668000" cy="501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2773" y="285750"/>
            <a:ext cx="1768226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0"/>
          <p:cNvSpPr txBox="1"/>
          <p:nvPr/>
        </p:nvSpPr>
        <p:spPr>
          <a:xfrm>
            <a:off x="1790253" y="4538662"/>
            <a:ext cx="9639746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650" u="none" cap="none" strike="noStrike">
                <a:solidFill>
                  <a:srgbClr val="E11D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62.5% Latency Reduction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achieved. Sub-50ms latency makes this pipeline viable for high-throughput, real-time creative generation.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3" name="Google Shape;24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376737"/>
            <a:ext cx="742503" cy="74250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0"/>
          <p:cNvSpPr txBox="1"/>
          <p:nvPr/>
        </p:nvSpPr>
        <p:spPr>
          <a:xfrm>
            <a:off x="762000" y="47625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 Inference Speed at Scale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762000" y="971550"/>
            <a:ext cx="10668000" cy="190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 txBox="1"/>
          <p:nvPr/>
        </p:nvSpPr>
        <p:spPr>
          <a:xfrm>
            <a:off x="762000" y="661035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IISlide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543175"/>
            <a:ext cx="5095875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2773" y="285750"/>
            <a:ext cx="1768226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1"/>
          <p:cNvSpPr txBox="1"/>
          <p:nvPr/>
        </p:nvSpPr>
        <p:spPr>
          <a:xfrm>
            <a:off x="762000" y="3148012"/>
            <a:ext cx="535066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Accomplishments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1"/>
          <p:cNvSpPr txBox="1"/>
          <p:nvPr/>
        </p:nvSpPr>
        <p:spPr>
          <a:xfrm>
            <a:off x="6667500" y="2828925"/>
            <a:ext cx="470058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1"/>
          <p:cNvSpPr txBox="1"/>
          <p:nvPr/>
        </p:nvSpPr>
        <p:spPr>
          <a:xfrm>
            <a:off x="6667500" y="3248025"/>
            <a:ext cx="447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i="0" lang="en-US" sz="1650" u="none" cap="none" strike="noStrike">
                <a:solidFill>
                  <a:srgbClr val="E11D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RLHF Loops: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Real-time reinforcement learning based on live CTR.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1"/>
          <p:cNvSpPr txBox="1"/>
          <p:nvPr/>
        </p:nvSpPr>
        <p:spPr>
          <a:xfrm>
            <a:off x="6667500" y="4086225"/>
            <a:ext cx="447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i="0" lang="en-US" sz="1650" u="none" cap="none" strike="noStrike">
                <a:solidFill>
                  <a:srgbClr val="E11D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Multimodal: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Pairing AI headlines with visual generation models.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1"/>
          <p:cNvSpPr txBox="1"/>
          <p:nvPr/>
        </p:nvSpPr>
        <p:spPr>
          <a:xfrm>
            <a:off x="1066800" y="350996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1"/>
          <p:cNvSpPr txBox="1"/>
          <p:nvPr/>
        </p:nvSpPr>
        <p:spPr>
          <a:xfrm>
            <a:off x="1143000" y="3509962"/>
            <a:ext cx="4714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40% Cycle Reduction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creative production.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1"/>
          <p:cNvSpPr txBox="1"/>
          <p:nvPr/>
        </p:nvSpPr>
        <p:spPr>
          <a:xfrm>
            <a:off x="1066800" y="382428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1"/>
          <p:cNvSpPr txBox="1"/>
          <p:nvPr/>
        </p:nvSpPr>
        <p:spPr>
          <a:xfrm>
            <a:off x="1143000" y="3824287"/>
            <a:ext cx="4714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Stabilized CAC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via rapid ad rotation.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1"/>
          <p:cNvSpPr txBox="1"/>
          <p:nvPr/>
        </p:nvSpPr>
        <p:spPr>
          <a:xfrm>
            <a:off x="1066800" y="413861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1"/>
          <p:cNvSpPr txBox="1"/>
          <p:nvPr/>
        </p:nvSpPr>
        <p:spPr>
          <a:xfrm>
            <a:off x="1143000" y="4138612"/>
            <a:ext cx="4714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 negative-brand variants reached deployment.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1"/>
          <p:cNvSpPr txBox="1"/>
          <p:nvPr/>
        </p:nvSpPr>
        <p:spPr>
          <a:xfrm>
            <a:off x="762000" y="47625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Path Forward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762000" y="971550"/>
            <a:ext cx="10668000" cy="190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 txBox="1"/>
          <p:nvPr/>
        </p:nvSpPr>
        <p:spPr>
          <a:xfrm>
            <a:off x="762000" y="661035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ConclusionSlide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42773" y="285750"/>
            <a:ext cx="1768226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2"/>
          <p:cNvSpPr txBox="1"/>
          <p:nvPr/>
        </p:nvSpPr>
        <p:spPr>
          <a:xfrm>
            <a:off x="495300" y="1519237"/>
            <a:ext cx="1120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5619750" y="2624137"/>
            <a:ext cx="952500" cy="381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762000" y="2947987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 &amp; Feedback?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2"/>
          <p:cNvSpPr txBox="1"/>
          <p:nvPr/>
        </p:nvSpPr>
        <p:spPr>
          <a:xfrm>
            <a:off x="762000" y="3767137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2"/>
          <p:cNvSpPr txBox="1"/>
          <p:nvPr/>
        </p:nvSpPr>
        <p:spPr>
          <a:xfrm>
            <a:off x="762000" y="4291012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2"/>
          <p:cNvSpPr txBox="1"/>
          <p:nvPr/>
        </p:nvSpPr>
        <p:spPr>
          <a:xfrm>
            <a:off x="762000" y="4814887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www.chitkara.edu.in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9" name="Google Shape;27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96023" y="486251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2"/>
          <p:cNvSpPr txBox="1"/>
          <p:nvPr/>
        </p:nvSpPr>
        <p:spPr>
          <a:xfrm>
            <a:off x="762000" y="661035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CO-OP Project PresentationSlide 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